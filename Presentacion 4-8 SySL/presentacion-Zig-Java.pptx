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eAv7EHqyb6QldzyCdEPjy1TN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 — Persona 1 — ~50 seg (incluye Agenda)</a:t>
            </a:r>
            <a:br>
              <a:rPr lang="en-US"/>
            </a:br>
            <a:br>
              <a:rPr lang="en-US"/>
            </a:br>
            <a:r>
              <a:rPr lang="en-US"/>
              <a:t>Hola a todos, somos los grupos 14 y 24. Vamos a comparar Zig y Java:</a:t>
            </a:r>
            <a:br>
              <a:rPr lang="en-US"/>
            </a:br>
            <a:r>
              <a:rPr lang="en-US"/>
              <a:t>historia, gramáticas formales BNF, y cómo cada uno implementa el ordenamiento nativo.</a:t>
            </a:r>
            <a:br>
              <a:rPr lang="en-US"/>
            </a:br>
            <a:r>
              <a:rPr lang="en-US"/>
              <a:t>Tenemos 15 minutos, así que arrancamos.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 — Persona 1 (continúa) — 20 seg</a:t>
            </a:r>
            <a:br>
              <a:rPr lang="en-US"/>
            </a:br>
            <a:br>
              <a:rPr lang="en-US"/>
            </a:br>
            <a:r>
              <a:rPr lang="en-US"/>
              <a:t>Cinco bloques: historia, BNF, sort en Zig, sort en Java con sus tres métodos, y comparativo.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HISTORIA ZIG — Persona 2 — ~1:30 min</a:t>
            </a:r>
            <a:br>
              <a:rPr lang="en-US"/>
            </a:br>
            <a:br>
              <a:rPr lang="en-US"/>
            </a:br>
            <a:r>
              <a:rPr lang="en-US"/>
              <a:t>Zig fue creado por Andrew Kelley en 2015. Su objetivo: un lenguaje de bajo nivel mejor que C.</a:t>
            </a:r>
            <a:br>
              <a:rPr lang="en-US"/>
            </a:br>
            <a:r>
              <a:rPr lang="en-US"/>
              <a:t>Principio clave: "sin flujos de control ocultos, sin allocations ocultos" — todo explícito.</a:t>
            </a:r>
            <a:br>
              <a:rPr lang="en-US"/>
            </a:br>
            <a:r>
              <a:rPr lang="en-US"/>
              <a:t>2016: open source. 2019: Zig Software Foundation. 2022: compilador self-hosted (hito).</a:t>
            </a:r>
            <a:br>
              <a:rPr lang="en-US"/>
            </a:br>
            <a:r>
              <a:rPr lang="en-US"/>
              <a:t>Hoy v0.13, sin v1.0 estable, pero en producción en Bun (runtime JS) y TigerBeetle (DB financiera).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HISTORIA JAVA — Persona 3 — ~1:30 min</a:t>
            </a:r>
            <a:br>
              <a:rPr lang="en-US"/>
            </a:br>
            <a:br>
              <a:rPr lang="en-US"/>
            </a:br>
            <a:r>
              <a:rPr lang="en-US"/>
              <a:t>Java nació en 1991 en Sun Microsystems, creado por James Gosling para TV interactiva.</a:t>
            </a:r>
            <a:br>
              <a:rPr lang="en-US"/>
            </a:br>
            <a:r>
              <a:rPr lang="en-US"/>
              <a:t>1995: renombrado a Java, "Write Once, Run Anywhere" — ejecuta en cualquier JVM.</a:t>
            </a:r>
            <a:br>
              <a:rPr lang="en-US"/>
            </a:br>
            <a:r>
              <a:rPr lang="en-US"/>
              <a:t>1996: Java 1.0. 2006: open source con OpenJDK. 2010: Oracle compra Sun.</a:t>
            </a:r>
            <a:br>
              <a:rPr lang="en-US"/>
            </a:br>
            <a:r>
              <a:rPr lang="en-US"/>
              <a:t>Hoy tiene releases cada 6 meses con LTS cada 2-3 años. Java 21 es el LTS actual.</a:t>
            </a:r>
            <a:br>
              <a:rPr lang="en-US"/>
            </a:br>
            <a:r>
              <a:rPr lang="en-US"/>
              <a:t>Es uno de los más usados en el mundo: banca, corporativo, Android.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BNF ZIG — Persona 4 — ~2 min</a:t>
            </a:r>
            <a:br>
              <a:rPr lang="en-US"/>
            </a:br>
            <a:br>
              <a:rPr lang="en-US"/>
            </a:br>
            <a:r>
              <a:rPr lang="en-US"/>
              <a:t>BNF completa en ziglang.org/documentation. Esto es un subconjunto representativo.</a:t>
            </a:r>
            <a:br>
              <a:rPr lang="en-US"/>
            </a:br>
            <a:br>
              <a:rPr lang="en-US"/>
            </a:br>
            <a:r>
              <a:rPr lang="en-US"/>
              <a:t>Puntos clave:</a:t>
            </a:r>
            <a:br>
              <a:rPr lang="en-US"/>
            </a:br>
            <a:r>
              <a:rPr lang="en-US"/>
              <a:t>- "?" en el tipo: si no tiene "?", el compilador garantiza que NUNCA es null — error de compilación.</a:t>
            </a:r>
            <a:br>
              <a:rPr lang="en-US"/>
            </a:br>
            <a:r>
              <a:rPr lang="en-US"/>
              <a:t>- var/const para mutabilidad explícita.</a:t>
            </a:r>
            <a:br>
              <a:rPr lang="en-US"/>
            </a:br>
            <a:r>
              <a:rPr lang="en-US"/>
              <a:t>- El for de Zig no es el for de C: itera sobre slices con |item|.</a:t>
            </a:r>
            <a:br>
              <a:rPr lang="en-US"/>
            </a:br>
            <a:r>
              <a:rPr lang="en-US"/>
              <a:t>- Sin excepciones: errores son "!" en los tipos de retorno.</a:t>
            </a:r>
            <a:br>
              <a:rPr lang="en-US"/>
            </a:br>
            <a:r>
              <a:rPr lang="en-US"/>
              <a:t>Gramática concisa y uniforme — todo explícito.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BNF JAVA — Persona 5 — ~2 min</a:t>
            </a:r>
            <a:br>
              <a:rPr lang="en-US"/>
            </a:br>
            <a:br>
              <a:rPr lang="en-US"/>
            </a:br>
            <a:r>
              <a:rPr lang="en-US"/>
              <a:t>El JLS tiene más de 800 páginas. Esto es representativo.</a:t>
            </a:r>
            <a:br>
              <a:rPr lang="en-US"/>
            </a:br>
            <a:br>
              <a:rPr lang="en-US"/>
            </a:br>
            <a:r>
              <a:rPr lang="en-US"/>
              <a:t>Comparando con Zig:</a:t>
            </a:r>
            <a:br>
              <a:rPr lang="en-US"/>
            </a:br>
            <a:r>
              <a:rPr lang="en-US"/>
              <a:t>- Java tiene package e imports — organiza en namespaces. Zig no.</a:t>
            </a:r>
            <a:br>
              <a:rPr lang="en-US"/>
            </a:br>
            <a:r>
              <a:rPr lang="en-US"/>
              <a:t>- Modificadores de acceso: public, private, protected, static, final. Zig solo "pub".</a:t>
            </a:r>
            <a:br>
              <a:rPr lang="en-US"/>
            </a:br>
            <a:r>
              <a:rPr lang="en-US"/>
              <a:t>- CLAVE: los tipos se dividen en DOS mundos: primitivos (int, boolean) y referencia (Integer, String).</a:t>
            </a:r>
            <a:br>
              <a:rPr lang="en-US"/>
            </a:br>
            <a:r>
              <a:rPr lang="en-US"/>
              <a:t>  Esta distincción explica por qué Java usa algoritmos de sort diferentes según el tipo.</a:t>
            </a:r>
            <a:br>
              <a:rPr lang="en-US"/>
            </a:br>
            <a:r>
              <a:rPr lang="en-US"/>
              <a:t>- El for enhanced (for-each) itera sobre cualquier Iterable.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 ZIG — Persona 6 — ~2 min</a:t>
            </a:r>
            <a:br>
              <a:rPr lang="en-US"/>
            </a:br>
            <a:br>
              <a:rPr lang="en-US"/>
            </a:br>
            <a:r>
              <a:rPr lang="en-US"/>
              <a:t>CORRECCIÓN IMPORTANTE respecto a muchas fuentes: std.mem.sort usa BLOCK SORT (estable),</a:t>
            </a:r>
            <a:br>
              <a:rPr lang="en-US"/>
            </a:br>
            <a:r>
              <a:rPr lang="en-US"/>
              <a:t>NO PDQ Sort. PDQ Sort está en std.mem.sortUnstable.</a:t>
            </a:r>
            <a:br>
              <a:rPr lang="en-US"/>
            </a:br>
            <a:br>
              <a:rPr lang="en-US"/>
            </a:br>
            <a:r>
              <a:rPr lang="en-US"/>
              <a:t>La tabla muestra las 6 funciones disponibles:</a:t>
            </a:r>
            <a:br>
              <a:rPr lang="en-US"/>
            </a:br>
            <a:r>
              <a:rPr lang="en-US"/>
              <a:t>- std.mem.sort: la función principal, estable, Block Sort, O(1) memoria.</a:t>
            </a:r>
            <a:br>
              <a:rPr lang="en-US"/>
            </a:br>
            <a:r>
              <a:rPr lang="en-US"/>
              <a:t>- std.mem.sortUnstable: inestable, PDQ Sort, más rápida en la práctica.</a:t>
            </a:r>
            <a:br>
              <a:rPr lang="en-US"/>
            </a:br>
            <a:r>
              <a:rPr lang="en-US"/>
              <a:t>- std.sort.block/pdq/heap/insertion: acceso directo a cada algoritmo.</a:t>
            </a:r>
            <a:br>
              <a:rPr lang="en-US"/>
            </a:br>
            <a:br>
              <a:rPr lang="en-US"/>
            </a:br>
            <a:r>
              <a:rPr lang="en-US"/>
              <a:t>Block Sort: estable, O(n) mejor caso, O(n log n) promedio/peor, O(1) memoria.</a:t>
            </a:r>
            <a:br>
              <a:rPr lang="en-US"/>
            </a:br>
            <a:r>
              <a:rPr lang="en-US"/>
              <a:t>PDQ Sort: inestable, O(n) mejor caso, O(n log n) promedio/peor, O(log n) memoria.</a:t>
            </a:r>
            <a:br>
              <a:rPr lang="en-US"/>
            </a:br>
            <a:r>
              <a:rPr lang="en-US"/>
              <a:t>Insertion Sort: O(n²) pero óptimo para arrays &lt; 10 elementos por su simpleza.</a:t>
            </a:r>
            <a:br>
              <a:rPr lang="en-US"/>
            </a:br>
            <a:br>
              <a:rPr lang="en-US"/>
            </a:br>
            <a:r>
              <a:rPr lang="en-US"/>
              <a:t>La llamada es siempre: función(tipo, slice, contexto, comparador).</a:t>
            </a:r>
            <a:br>
              <a:rPr lang="en-US"/>
            </a:br>
            <a:r>
              <a:rPr lang="en-US"/>
              <a:t>El tipo en comptime genera código específico sin overhead de runtime.</a:t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 JAVA MÉTODOS — Persona 7 — ~2:30 min</a:t>
            </a:r>
            <a:br>
              <a:rPr lang="en-US"/>
            </a:br>
            <a:br>
              <a:rPr lang="en-US"/>
            </a:br>
            <a:r>
              <a:rPr lang="en-US"/>
              <a:t>Java tiene 4 métodos nativos de ordenamiento:</a:t>
            </a:r>
            <a:br>
              <a:rPr lang="en-US"/>
            </a:br>
            <a:br>
              <a:rPr lang="en-US"/>
            </a:br>
            <a:r>
              <a:rPr lang="en-US"/>
              <a:t>1. Arrays.sort() — el más fundamental. Existe desde Java 1.0.</a:t>
            </a:r>
            <a:br>
              <a:rPr lang="en-US"/>
            </a:br>
            <a:r>
              <a:rPr lang="en-US"/>
              <a:t>   Primitivos (int[], double[]): Dual-Pivot Quicksort (inestable).</a:t>
            </a:r>
            <a:br>
              <a:rPr lang="en-US"/>
            </a:br>
            <a:r>
              <a:rPr lang="en-US"/>
              <a:t>   Objetos (Integer[], String[]): TimSort (estable).</a:t>
            </a:r>
            <a:br>
              <a:rPr lang="en-US"/>
            </a:br>
            <a:br>
              <a:rPr lang="en-US"/>
            </a:br>
            <a:r>
              <a:rPr lang="en-US"/>
              <a:t>2. Collections.sort() — legacy (Java 1.2+), solo para listas.</a:t>
            </a:r>
            <a:br>
              <a:rPr lang="en-US"/>
            </a:br>
            <a:r>
              <a:rPr lang="en-US"/>
              <a:t>   Desde Java 8 internamente llama a list.sort(), que llama Arrays.sort().</a:t>
            </a:r>
            <a:br>
              <a:rPr lang="en-US"/>
            </a:br>
            <a:r>
              <a:rPr lang="en-US"/>
              <a:t>   Siempre TimSort porque las listas solo tienen objetos.</a:t>
            </a:r>
            <a:br>
              <a:rPr lang="en-US"/>
            </a:br>
            <a:br>
              <a:rPr lang="en-US"/>
            </a:br>
            <a:r>
              <a:rPr lang="en-US"/>
              <a:t>3. List.sort() — moderno (Java 8+), default method de la interfaz List.</a:t>
            </a:r>
            <a:br>
              <a:rPr lang="en-US"/>
            </a:br>
            <a:r>
              <a:rPr lang="en-US"/>
              <a:t>   Más eficiente que Collections.sort() para ArrayList en algunos casos.</a:t>
            </a:r>
            <a:br>
              <a:rPr lang="en-US"/>
            </a:br>
            <a:br>
              <a:rPr lang="en-US"/>
            </a:br>
            <a:r>
              <a:rPr lang="en-US"/>
              <a:t>4. Arrays.parallelSort() — Java 8+, paralelismo real.</a:t>
            </a:r>
            <a:br>
              <a:rPr lang="en-US"/>
            </a:br>
            <a:r>
              <a:rPr lang="en-US"/>
              <a:t>   Divide el array en sub-arrays, ordena cada uno en hilos separados</a:t>
            </a:r>
            <a:br>
              <a:rPr lang="en-US"/>
            </a:br>
            <a:r>
              <a:rPr lang="en-US"/>
              <a:t>   usando el Fork/Join framework, luego combina los resultados.</a:t>
            </a:r>
            <a:br>
              <a:rPr lang="en-US"/>
            </a:br>
            <a:r>
              <a:rPr lang="en-US"/>
              <a:t>   Usa los mismos algoritmos internos que Arrays.sort().</a:t>
            </a:r>
            <a:br>
              <a:rPr lang="en-US"/>
            </a:br>
            <a:r>
              <a:rPr lang="en-US"/>
              <a:t>   Solo vale la pena para arrays grandes (&gt; 8192 elementos) en máquinas multi-core.</a:t>
            </a:r>
            <a:br>
              <a:rPr lang="en-US"/>
            </a:br>
            <a:r>
              <a:rPr lang="en-US"/>
              <a:t>   Para arrays chicos o un solo core, cae automáticamente al sort secuencial.</a:t>
            </a:r>
            <a:br>
              <a:rPr lang="en-US"/>
            </a:br>
            <a:br>
              <a:rPr lang="en-US"/>
            </a:br>
            <a:r>
              <a:rPr lang="en-US"/>
              <a:t>La cadena de llamadas es importante para entender que todo converge en Arrays.sort().</a:t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ALGORITMOS JAVA — Persona 7 (continúa) — ~1 min</a:t>
            </a:r>
            <a:br>
              <a:rPr lang="en-US"/>
            </a:br>
            <a:br>
              <a:rPr lang="en-US"/>
            </a:br>
            <a:r>
              <a:rPr lang="en-US"/>
              <a:t>Dual-Pivot QS (Vladimir Yaroslavskiy, 2009, adoptado Java 7):</a:t>
            </a:r>
            <a:br>
              <a:rPr lang="en-US"/>
            </a:br>
            <a:r>
              <a:rPr lang="en-US"/>
              <a:t>Usa dos pivotes — divide el array en TRES partes. Reduce comparaciones ~33%.</a:t>
            </a:r>
            <a:br>
              <a:rPr lang="en-US"/>
            </a:br>
            <a:r>
              <a:rPr lang="en-US"/>
              <a:t>Inestable pero para primitivos no importa. Peor caso teórico O(n²) pero no ocurre en la práctica.</a:t>
            </a:r>
            <a:br>
              <a:rPr lang="en-US"/>
            </a:br>
            <a:br>
              <a:rPr lang="en-US"/>
            </a:br>
            <a:r>
              <a:rPr lang="en-US"/>
              <a:t>TimSort (Tim Peters, 2002, adoptado Java 7):</a:t>
            </a:r>
            <a:br>
              <a:rPr lang="en-US"/>
            </a:br>
            <a:r>
              <a:rPr lang="en-US"/>
              <a:t>Detecta "runs" — subsecuencias ya ordenadas. Las combina con Merge Sort.</a:t>
            </a:r>
            <a:br>
              <a:rPr lang="en-US"/>
            </a:br>
            <a:r>
              <a:rPr lang="en-US"/>
              <a:t>O(n) si el input está completamente ordenado. Siempre estable.</a:t>
            </a:r>
            <a:br>
              <a:rPr lang="en-US"/>
            </a:br>
            <a:r>
              <a:rPr lang="en-US"/>
              <a:t>Usado por los 3 métodos cuando operan sobre objetos.</a:t>
            </a:r>
            <a:br>
              <a:rPr lang="en-US"/>
            </a:br>
            <a:br>
              <a:rPr lang="en-US"/>
            </a:br>
            <a:r>
              <a:rPr lang="en-US"/>
              <a:t>¿Por qué la diferencia? Primitivos no tienen igualdad observable — la inestabilidad no importa.</a:t>
            </a:r>
            <a:br>
              <a:rPr lang="en-US"/>
            </a:br>
            <a:r>
              <a:rPr lang="en-US"/>
              <a:t>Objetos sí tienen identidad — importa preservar el orden relativo de iguales.</a:t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COMPARATIVO — Persona 1 (vuelve) — ~2 min</a:t>
            </a:r>
            <a:br>
              <a:rPr lang="en-US"/>
            </a:br>
            <a:br>
              <a:rPr lang="en-US"/>
            </a:br>
            <a:r>
              <a:rPr lang="en-US"/>
              <a:t>Ahora comparamos los 4 algoritmos. Puntos clave:</a:t>
            </a:r>
            <a:br>
              <a:rPr lang="en-US"/>
            </a:br>
            <a:br>
              <a:rPr lang="en-US"/>
            </a:br>
            <a:r>
              <a:rPr lang="en-US"/>
              <a:t>1. ESTABILIDAD: Block Sort de Zig (std.mem.sort) y TimSort de Java son estables.</a:t>
            </a:r>
            <a:br>
              <a:rPr lang="en-US"/>
            </a:br>
            <a:r>
              <a:rPr lang="en-US"/>
              <a:t>   PDQ Sort (std.mem.sortUnstable) y Dual-Pivot QS son inestables.</a:t>
            </a:r>
            <a:br>
              <a:rPr lang="en-US"/>
            </a:br>
            <a:br>
              <a:rPr lang="en-US"/>
            </a:br>
            <a:r>
              <a:rPr lang="en-US"/>
              <a:t>2. MEMORIA: Block Sort de Zig es el único con O(1) — no necesita memoria auxiliar.</a:t>
            </a:r>
            <a:br>
              <a:rPr lang="en-US"/>
            </a:br>
            <a:r>
              <a:rPr lang="en-US"/>
              <a:t>   TimSort necesita O(n), los otros O(log n).</a:t>
            </a:r>
            <a:br>
              <a:rPr lang="en-US"/>
            </a:br>
            <a:br>
              <a:rPr lang="en-US"/>
            </a:br>
            <a:r>
              <a:rPr lang="en-US"/>
              <a:t>3. MEJOR CASO: todos logran O(n) excepto Dual-Pivot QS que es O(n log n) siempre.</a:t>
            </a:r>
            <a:br>
              <a:rPr lang="en-US"/>
            </a:br>
            <a:br>
              <a:rPr lang="en-US"/>
            </a:br>
            <a:r>
              <a:rPr lang="en-US"/>
              <a:t>4. PEOR CASO: Dual-Pivot QS es teóricamente O(n²). Los demás garantizan O(n log n).</a:t>
            </a:r>
            <a:br>
              <a:rPr lang="en-US"/>
            </a:br>
            <a:br>
              <a:rPr lang="en-US"/>
            </a:br>
            <a:r>
              <a:rPr lang="en-US"/>
              <a:t>5. ADAPTATIVO: TimSort es el más adaptativo (detecta runs). PDQ Sort detecta patrones.</a:t>
            </a:r>
            <a:br>
              <a:rPr lang="en-US"/>
            </a:br>
            <a:r>
              <a:rPr lang="en-US"/>
              <a:t>   Block Sort y Dual-Pivot QS son menos adaptativos.</a:t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— Persona 2 (vuelve) — ~1 min</a:t>
            </a:r>
            <a:br>
              <a:rPr lang="en-US"/>
            </a:br>
            <a:br>
              <a:rPr lang="en-US"/>
            </a:br>
            <a:r>
              <a:rPr lang="en-US"/>
              <a:t>1. La gramática refleja el lenguaje: Zig conciso = lenguaje conciso. Java complejo = lenguaje complejo.</a:t>
            </a:r>
            <a:br>
              <a:rPr lang="en-US"/>
            </a:br>
            <a:r>
              <a:rPr lang="en-US"/>
              <a:t>2. Zig: un mecanismo genérico, eles tu si necesitás estabilidad. Java: 3 métodos que convergen en Arrays.sort.</a:t>
            </a:r>
            <a:br>
              <a:rPr lang="en-US"/>
            </a:br>
            <a:r>
              <a:rPr lang="en-US"/>
              <a:t>3. Zig = control total. Java = conveniencia. No hay uno mejor.</a:t>
            </a:r>
            <a:br>
              <a:rPr lang="en-US"/>
            </a:br>
            <a:r>
              <a:rPr lang="en-US"/>
              <a:t>4. Block Sort, PDQ Sort y TimSort son adaptativos. El QS clásico ya no es suficiente.</a:t>
            </a:r>
            <a:br>
              <a:rPr lang="en-US"/>
            </a:br>
            <a:br>
              <a:rPr lang="en-US"/>
            </a:br>
            <a:r>
              <a:rPr lang="en-US"/>
              <a:t>Gracias. Pasamos a las preguntas.</a:t>
            </a:r>
            <a:endParaRPr/>
          </a:p>
        </p:txBody>
      </p:sp>
      <p:sp>
        <p:nvSpPr>
          <p:cNvPr id="366" name="Google Shape;3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PREGUNTAS — Todos — ~1 min</a:t>
            </a:r>
            <a:br>
              <a:rPr lang="en-US"/>
            </a:br>
            <a:br>
              <a:rPr lang="en-US"/>
            </a:br>
            <a:r>
              <a:rPr lang="en-US"/>
              <a:t>Respuestas:</a:t>
            </a:r>
            <a:br>
              <a:rPr lang="en-US"/>
            </a:br>
            <a:br>
              <a:rPr lang="en-US"/>
            </a:br>
            <a:r>
              <a:rPr lang="en-US"/>
              <a:t>1. Primitivos no tienen igualdad observable (dos ints iguales son indistinguibles).</a:t>
            </a:r>
            <a:br>
              <a:rPr lang="en-US"/>
            </a:br>
            <a:r>
              <a:rPr lang="en-US"/>
              <a:t>   Objetos sí tienen identidad, la estabilidad importa.</a:t>
            </a:r>
            <a:br>
              <a:rPr lang="en-US"/>
            </a:br>
            <a:br>
              <a:rPr lang="en-US"/>
            </a:br>
            <a:r>
              <a:rPr lang="en-US"/>
              <a:t>2. std.mem.sort llama Block Sort (estable, O(1) memoria). std.mem.sortUnstable llama PDQ Sort</a:t>
            </a:r>
            <a:br>
              <a:rPr lang="en-US"/>
            </a:br>
            <a:r>
              <a:rPr lang="en-US"/>
              <a:t>   (inestable, más rápido en la práctica según benchmarks).</a:t>
            </a:r>
            <a:br>
              <a:rPr lang="en-US"/>
            </a:br>
            <a:br>
              <a:rPr lang="en-US"/>
            </a:br>
            <a:r>
              <a:rPr lang="en-US"/>
              <a:t>3. TimSort logra O(n) cuando el input ya está ordenado: detecta un único run y no hace merges.</a:t>
            </a:r>
            <a:br>
              <a:rPr lang="en-US"/>
            </a:br>
            <a:r>
              <a:rPr lang="en-US"/>
              <a:t>   Ocurre en logs, historial de precios, datos casi ordenados, secuencias con timestamps.</a:t>
            </a:r>
            <a:br>
              <a:rPr lang="en-US"/>
            </a:br>
            <a:br>
              <a:rPr lang="en-US"/>
            </a:br>
            <a:r>
              <a:rPr lang="en-US"/>
              <a:t>4. Collections.sort(list) → llama list.sort(null) → llama Arrays.sort(array) → TimSort.</a:t>
            </a:r>
            <a:br>
              <a:rPr lang="en-US"/>
            </a:br>
            <a:r>
              <a:rPr lang="en-US"/>
              <a:t>   Antes de Java 8, Collections.sort hacía todo. Desde Java 8 delega en list.sort.</a:t>
            </a:r>
            <a:br>
              <a:rPr lang="en-US"/>
            </a:br>
            <a:r>
              <a:rPr lang="en-US"/>
              <a:t>   List.sort es más eficiente para ArrayList porque evita copias innecesarias.</a:t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371600" y="685800"/>
            <a:ext cx="2560320" cy="100584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71600" y="6858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931920" y="91440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212080" y="685800"/>
            <a:ext cx="2560320" cy="100584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212080" y="6858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Sintaxis, Semántica y Ordenamiento Nativo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0" y="2715768"/>
            <a:ext cx="2743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31520" y="2862072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Sintaxis y Semántica de los Lenguajes  ·  UTN FRBA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520" y="3255264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Grupos 14 y 24  · 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31520" y="3675888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Introducción a Zig  ·  Tema 1: Algoritmos de Ordenamiento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987552"/>
            <a:ext cx="594360" cy="530352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987552"/>
            <a:ext cx="594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43000" y="987552"/>
            <a:ext cx="7543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325880" y="987552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Historia de los lenguajes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769364"/>
            <a:ext cx="594360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769364"/>
            <a:ext cx="594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1769364"/>
            <a:ext cx="7543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325880" y="1769364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BNF — Gramáticas formales de Zig y Java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551176"/>
            <a:ext cx="594360" cy="530352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551176"/>
            <a:ext cx="594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43000" y="2551176"/>
            <a:ext cx="7543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325880" y="2551176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Funciones nativas de ordenamiento en Zig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3332988"/>
            <a:ext cx="594360" cy="530352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3332988"/>
            <a:ext cx="594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43000" y="3332988"/>
            <a:ext cx="7543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325880" y="3332988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Métodos de ordenamiento en Java (3 métodos)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4114800"/>
            <a:ext cx="59436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114800"/>
            <a:ext cx="594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43000" y="4114800"/>
            <a:ext cx="7543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325880" y="411480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Análisis comparativo + Conclusiones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Historia de Zig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768096"/>
            <a:ext cx="914400" cy="50292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57200" y="7680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50392" y="1271016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508760" y="768096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691640" y="768096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Andrew Kelley inicia Zig — motivación: un C más seguro y explícito, sin comportamientos ocultos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1609344"/>
            <a:ext cx="914400" cy="50292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57200" y="160934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50392" y="2112264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508760" y="1609344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691640" y="1609344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Primera versión pública en GitHub — open source desde el inicio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2450592"/>
            <a:ext cx="914400" cy="50292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200" y="245059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50392" y="2953512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508760" y="2450592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691640" y="245059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 funda la Zig Software Foundation (ZSF) — organización sin fines de lucro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3291840"/>
            <a:ext cx="914400" cy="50292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57200" y="32918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50392" y="3794760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508760" y="3291840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691640" y="329184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Compilador self-hosted: Zig se compila a sí mismo — hito de madurez técnica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4133088"/>
            <a:ext cx="914400" cy="50292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57200" y="413308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508760" y="4133088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691640" y="4133088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Versión 0.13.0 — en desarrollo activo; Bun.sh y TigerBeetle lo usan en producción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Historia de Java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768096"/>
            <a:ext cx="914400" cy="5029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57200" y="7680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50392" y="1271016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508760" y="768096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691640" y="768096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James Gosling (Sun Microsystems) crea "Oak" — pensado para dispositivos embebidos y TV interactiva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1609344"/>
            <a:ext cx="914400" cy="5029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57200" y="160934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50392" y="2112264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508760" y="1609344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691640" y="1609344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Renombrado a Java — lanzamiento público con el slogan "Write Once, Run Anywhere" (WORA)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2450592"/>
            <a:ext cx="914400" cy="5029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57200" y="245059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50392" y="2953512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508760" y="2450592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691640" y="2450592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Java 1.0 — JVM, applets de browser, base del ecosistema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3291840"/>
            <a:ext cx="914400" cy="5029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57200" y="32918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50392" y="3794760"/>
            <a:ext cx="128016" cy="338328"/>
          </a:xfrm>
          <a:prstGeom prst="rect">
            <a:avLst/>
          </a:prstGeom>
          <a:solidFill>
            <a:srgbClr val="2D3D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508760" y="3291840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691640" y="329184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OpenJDK: Java se vuelve open source bajo licencia GPL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4133088"/>
            <a:ext cx="914400" cy="502920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57200" y="413308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2010+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08760" y="4133088"/>
            <a:ext cx="71780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691640" y="4133088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Oracle adquiere Sun — ciclo de LTS cada 2-3 años: Java 8, 11, 17, 21 (actual)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BNF de Zig — Fragmentos seleccionados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676656"/>
            <a:ext cx="8229600" cy="4315968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40080" y="768096"/>
            <a:ext cx="786384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&lt;program&gt;     ::= &lt;top_level_decl&gt;*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&lt;fn_decl&gt;     ::= "pub"? "fn" &lt;IDENT&gt; "(" &lt;param_list&gt; ")" &lt;type&gt; &lt;block&gt;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&lt;param_list&gt;  ::= ε  |  &lt;param&gt; ("," &lt;param&gt;)*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&lt;type&gt;        ::= &lt;IDENT&gt;  |  "?" &lt;type&gt;  |  "*" &lt;type&gt;  |  "[]" &lt;type&gt;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&lt;var_decl&gt;    ::= ("var" | "const") &lt;IDENT&gt; (":" &lt;type&gt;)? "=" &lt;expr&gt; ";"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&lt;block&gt;       ::= "{" &lt;statement&gt;* "}"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&lt;if_stmt&gt;     ::= "if" "(" &lt;expr&gt; ")" &lt;block&gt; ("else" &lt;block&gt;)?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&lt;for_stmt&gt;    ::= "for" "(" &lt;expr&gt; ")" "|" &lt;IDENT&gt; "|" &lt;block&gt;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&lt;expr&gt;        ::= &lt;LITERAL&gt;  |  &lt;IDENT&gt;  |  &lt;fn_call&gt;  |  &lt;binary_expr&gt;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BNF de Java — Fragmentos seleccionados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676656"/>
            <a:ext cx="8229600" cy="4315968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40080" y="768096"/>
            <a:ext cx="786384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&lt;compilation_unit&gt; ::= &lt;package_decl&gt;? &lt;import_decl&gt;* &lt;type_decl&gt;*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&lt;class_decl&gt;  ::= &lt;modifier&gt;* "class" &lt;IDENT&gt; &lt;extends&gt;? &lt;implements&gt;? &lt;class_body&gt;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&lt;modifier&gt;    ::= "public" | "private" | "protected" | "static" | "final" | "abstract"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&lt;method_decl&gt; ::= &lt;modifier&gt;* &lt;type&gt; &lt;IDENT&gt; "(" &lt;param_list&gt; ")" &lt;block&gt;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&lt;type&gt;        ::= &lt;prim_type&gt;  |  &lt;class_type&gt;  |  &lt;array_type&gt;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&lt;prim_type&gt;   ::= "int" | "long" | "double" | "boolean" | "char" | "byte"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&lt;statement&gt;   ::= &lt;if_stmt&gt; | &lt;for_stmt&gt; | &lt;while_stmt&gt; | &lt;return_stmt&gt;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&lt;for_stmt&gt;    ::= "for" "(" &lt;for_init&gt;? ";" &lt;expr&gt;? ";" &lt;for_update&gt;? ")" &lt;stmt&gt;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|  "for" "(" &lt;type&gt; &lt;IDENT&gt; ":" &lt;expr&gt; ")" &lt;stmt&gt;   // enhanced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Ordenamiento en Zig — Funciones disponibles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192435" y="4828052"/>
            <a:ext cx="8229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694944"/>
            <a:ext cx="31089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02920" y="69494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611880" y="694944"/>
            <a:ext cx="2011680" cy="329184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657600" y="69494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Algoritmo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669280" y="694944"/>
            <a:ext cx="14630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715000" y="69494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Estabilidad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178040" y="694944"/>
            <a:ext cx="150876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223760" y="694944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1024128"/>
            <a:ext cx="31089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611880" y="1024128"/>
            <a:ext cx="201168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669280" y="1024128"/>
            <a:ext cx="146304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178040" y="1024128"/>
            <a:ext cx="15087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2920" y="102412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7A41D"/>
                </a:solidFill>
                <a:latin typeface="Courier New"/>
                <a:ea typeface="Courier New"/>
                <a:cs typeface="Courier New"/>
                <a:sym typeface="Courier New"/>
              </a:rPr>
              <a:t>std.mem.sort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657600" y="102412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Block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687568" y="102412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Estable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196328" y="102412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O(1)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1499616"/>
            <a:ext cx="31089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611880" y="1499616"/>
            <a:ext cx="20116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669280" y="1499616"/>
            <a:ext cx="14630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178040" y="1499616"/>
            <a:ext cx="15087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02920" y="149961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std.mem.sortUnstable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0" y="1499616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PDQ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687568" y="1499616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Inestable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196328" y="1499616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O(log 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1975104"/>
            <a:ext cx="31089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611880" y="1975104"/>
            <a:ext cx="201168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669280" y="1975104"/>
            <a:ext cx="146304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178040" y="1975104"/>
            <a:ext cx="15087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02920" y="197510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std.sort.block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657600" y="1975104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Block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87568" y="197510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Estable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196328" y="197510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O(1)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2450592"/>
            <a:ext cx="31089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611880" y="2450592"/>
            <a:ext cx="20116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669280" y="2450592"/>
            <a:ext cx="14630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178040" y="2450592"/>
            <a:ext cx="15087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02920" y="245059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std.sort.pdq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0" y="24505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PDQ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687568" y="245059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Inestable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196328" y="245059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O(log 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2926080"/>
            <a:ext cx="31089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611880" y="2926080"/>
            <a:ext cx="201168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5669280" y="2926080"/>
            <a:ext cx="146304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178040" y="2926080"/>
            <a:ext cx="1508760" cy="45720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02920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std.sort.heap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57600" y="29260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Heap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687568" y="29260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Inestable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196328" y="2926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57200" y="3401568"/>
            <a:ext cx="31089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611880" y="3401568"/>
            <a:ext cx="20116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669280" y="3401568"/>
            <a:ext cx="14630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7178040" y="3401568"/>
            <a:ext cx="15087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02920" y="340156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std.sort.insertion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57600" y="34015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Insertion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687568" y="34015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96328" y="3401568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57200" y="3877075"/>
            <a:ext cx="8229600" cy="12663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94310" y="3877039"/>
            <a:ext cx="795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9A4A"/>
                </a:solidFill>
                <a:latin typeface="Calibri"/>
                <a:ea typeface="Calibri"/>
                <a:cs typeface="Calibri"/>
                <a:sym typeface="Calibri"/>
              </a:rPr>
              <a:t>⚠ std.mem.sort llama a Block Sort (estable). std.mem.sortUnstable llama a PDQ Sort (más rápido).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0072" y="4178828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var nums = [_]i32{ 5, 2, 8, 1, 9, 3 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std.mem.sort(i32, &amp;nums, {}, comptime std.sort.asc(i32));       // Block Sort (estable)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std.mem.sortUnstable(i32, &amp;nums, {}, comptime std.sort.asc(i32)); // PDQ Sort  (inestable, más rápido)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Ordenamiento en Java — Los 4 métodos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57200" y="676656"/>
            <a:ext cx="406908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66928" y="786384"/>
            <a:ext cx="329184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66928" y="7863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87552" y="786384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Arrays.sort()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85216" y="1188720"/>
            <a:ext cx="3813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primitivos → Dual-Pivot QS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objetos → TimSort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85216" y="1645920"/>
            <a:ext cx="38130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Desde Java 1.0. Para arrays. El método 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617720" y="676656"/>
            <a:ext cx="406908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727448" y="786384"/>
            <a:ext cx="329184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727448" y="7863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148072" y="786384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Collections.sort()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745736" y="1188720"/>
            <a:ext cx="3813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siempre TimSort (estable)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745736" y="1645920"/>
            <a:ext cx="38130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Legacy (Java 1.2+). Solo listas. Desde Java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internamente llama a list.sort().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2505456"/>
            <a:ext cx="406908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66928" y="2615184"/>
            <a:ext cx="329184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66928" y="26151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87552" y="2615184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List.sort()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85216" y="3017520"/>
            <a:ext cx="3813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siempre TimSort (estable)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85216" y="3474720"/>
            <a:ext cx="38130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Moderno (Java 8+). Método de la interfaz List.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Más eficiente que Collections.sort() en ArrayList.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617720" y="2505456"/>
            <a:ext cx="406908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727448" y="2615184"/>
            <a:ext cx="329184" cy="3291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727448" y="26151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148072" y="2615184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Arrays.parallelSort()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745736" y="3017520"/>
            <a:ext cx="38130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mismos algoritmos que Arrays.sort()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745736" y="3474720"/>
            <a:ext cx="381304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Java 8+. Divide en sub-arrays, ordena en paralelo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(Fork/Join), luego combina. Solo vale para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arrays grandes (&gt; 8192 elem. o multi-core).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57200" y="4407408"/>
            <a:ext cx="8229600" cy="566928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94360" y="44439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Cadena interna: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94360" y="4663440"/>
            <a:ext cx="7955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A4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F9A4A"/>
                </a:solidFill>
                <a:latin typeface="Courier New"/>
                <a:ea typeface="Courier New"/>
                <a:cs typeface="Courier New"/>
                <a:sym typeface="Courier New"/>
              </a:rPr>
              <a:t>Collections.sort(list)  →  list.sort(null)  →  Arrays.sort(arr)  →  TimSort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57200" y="2011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554480" y="20116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Algoritmos internos — Dual-Pivot QS y TimSort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7200" y="694944"/>
            <a:ext cx="41148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594360" y="731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Dual-Pivot Quicksort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94360" y="1024128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Arrays.sort(int[] / double[] / 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4360" y="133502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2 pivotes P₁ y P₂ → divide en 3 partes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94360" y="16093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• ~33% menos comparaciones vs 1 pivote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94360" y="18836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Inestable (OK para primitivos)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94360" y="21579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9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9A4A"/>
                </a:solidFill>
                <a:latin typeface="Calibri"/>
                <a:ea typeface="Calibri"/>
                <a:cs typeface="Calibri"/>
                <a:sym typeface="Calibri"/>
              </a:rPr>
              <a:t>• Peor caso teórico O(n²) — no ocurre en la práctica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94360" y="24323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Memoria: O(log 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94360" y="27797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[ &lt; P₁ | P₁ | P₁ &lt; x &lt; P₂ | P₂ | &gt; P₂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754880" y="694944"/>
            <a:ext cx="393192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892040" y="731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TimSort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892040" y="1024128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Arrays.sort(Object[]) / List.sort() / Collections.sort()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892040" y="13350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Detecta "runs" (subsec. ya ordenadas)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892040" y="16093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Insertion Sort para runs &lt; 64 elementos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892040" y="18836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Merge Sort para combinar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892040" y="21579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• O(n) si el input ya está ordenado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892040" y="24323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• Estable ✓ | Memoria: O(n)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892040" y="27797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[run₁][run₂][run₃] → merge → [sorted]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57200" y="3200400"/>
            <a:ext cx="8229600" cy="173736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640080" y="3236976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SortDemo.java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40080" y="3465576"/>
            <a:ext cx="78638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int[]     primitivos = {5, 2, 8, 1, 9, 3};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Arrays.sort(primitivos);                  // Dual-Pivot QS   → [1,2,3,5,8,9]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Integer[] objetos = {5, 2, 8, 1, 9, 3};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Arrays.sort(objetos);                     // TimSort (estable)→ [1,2,3,5,8,9]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AFE0"/>
                </a:solidFill>
                <a:latin typeface="Courier New"/>
                <a:ea typeface="Courier New"/>
                <a:cs typeface="Courier New"/>
                <a:sym typeface="Courier New"/>
              </a:rPr>
              <a:t>new ArrayList&lt;&gt;(list).sort(null);         // TimSort (moderno, Java 8+)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57200" y="1645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Análisis Comparativo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57200" y="694944"/>
            <a:ext cx="15544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93776" y="694944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Característica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057400" y="694944"/>
            <a:ext cx="1783080" cy="384048"/>
          </a:xfrm>
          <a:prstGeom prst="rect">
            <a:avLst/>
          </a:prstGeom>
          <a:solidFill>
            <a:srgbClr val="285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2093976" y="69494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Block 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886200" y="694944"/>
            <a:ext cx="1783080" cy="384048"/>
          </a:xfrm>
          <a:prstGeom prst="rect">
            <a:avLst/>
          </a:prstGeom>
          <a:solidFill>
            <a:srgbClr val="3D4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3922776" y="694944"/>
            <a:ext cx="1709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Zig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PDQ 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715000" y="694944"/>
            <a:ext cx="1554480" cy="384048"/>
          </a:xfrm>
          <a:prstGeom prst="rect">
            <a:avLst/>
          </a:prstGeom>
          <a:solidFill>
            <a:srgbClr val="0D3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751576" y="694944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Dual-Pivot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315200" y="694944"/>
            <a:ext cx="1371600" cy="384048"/>
          </a:xfrm>
          <a:prstGeom prst="rect">
            <a:avLst/>
          </a:prstGeom>
          <a:solidFill>
            <a:srgbClr val="0D3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351776" y="694944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AF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AFE0"/>
                </a:solidFill>
                <a:latin typeface="Calibri"/>
                <a:ea typeface="Calibri"/>
                <a:cs typeface="Calibri"/>
                <a:sym typeface="Calibri"/>
              </a:rPr>
              <a:t>TimSort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57200" y="1078992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493776" y="1078992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2057400" y="1078992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2093976" y="1078992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std.mem.sort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3886200" y="1078992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3922776" y="1078992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std.mem.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sortUnstable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715000" y="1078992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5751576" y="1078992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Arrays.sort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(prim[])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315200" y="1078992"/>
            <a:ext cx="137160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351776" y="1078992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Arrays.sort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(Object[])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57200" y="1664208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493776" y="1664208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Estabilidad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057400" y="1664208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2093976" y="1664208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Estable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886200" y="1664208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922776" y="1664208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Inestable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715000" y="1664208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751576" y="1664208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Inestable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315200" y="1664208"/>
            <a:ext cx="1371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7351776" y="1664208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Estable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2249424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93776" y="2249424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Mejor caso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057400" y="2249424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2093976" y="2249424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886200" y="2249424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922776" y="2249424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715000" y="2249424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5751576" y="2249424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315200" y="2249424"/>
            <a:ext cx="137160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7351776" y="2249424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O(n)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57200" y="2834640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93776" y="28346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Peor caso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2057400" y="2834640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2093976" y="2834640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886200" y="2834640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3922776" y="2834640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715000" y="2834640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5751576" y="28346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9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9A4A"/>
                </a:solidFill>
                <a:latin typeface="Calibri"/>
                <a:ea typeface="Calibri"/>
                <a:cs typeface="Calibri"/>
                <a:sym typeface="Calibri"/>
              </a:rPr>
              <a:t>O(n²)*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315200" y="2834640"/>
            <a:ext cx="1371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7351776" y="2834640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57200" y="3419856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93776" y="3419856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Memoria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2057400" y="3419856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2093976" y="3419856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O(1)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886200" y="3419856"/>
            <a:ext cx="17830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3922776" y="3419856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715000" y="3419856"/>
            <a:ext cx="155448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5751576" y="3419856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O(log 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315200" y="3419856"/>
            <a:ext cx="1371600" cy="548640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7351776" y="3419856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57200" y="4005072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493776" y="4005072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Adaptativo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057400" y="4005072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2093976" y="4005072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Parcialmente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886200" y="4005072"/>
            <a:ext cx="17830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3922776" y="4005072"/>
            <a:ext cx="1709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Sí (patrones)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715000" y="4005072"/>
            <a:ext cx="1554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5751576" y="4005072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315200" y="4005072"/>
            <a:ext cx="13716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7351776" y="4005072"/>
            <a:ext cx="12984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Sí (runs)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57200" y="1645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57200" y="758952"/>
            <a:ext cx="4023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94360" y="896112"/>
            <a:ext cx="219456" cy="2194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914400" y="85039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Gramáticas: reflejo del diseño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94360" y="1289304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BNF de Zig concisa y uniforme — sin null implícito, todo explícito. BNF de Java extensa por OOP: modificadores, herencia, dos mundos de tipos. La gramática es la primera pista sobre el lenguaje.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663440" y="758952"/>
            <a:ext cx="4023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4800600" y="896112"/>
            <a:ext cx="219456" cy="219456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5120640" y="85039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41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A41D"/>
                </a:solidFill>
                <a:latin typeface="Calibri"/>
                <a:ea typeface="Calibri"/>
                <a:cs typeface="Calibri"/>
                <a:sym typeface="Calibri"/>
              </a:rPr>
              <a:t>Sort: dos filosofías distintas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800600" y="1289304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Zig: un mecanismo genérico (comptime) para todos los tipos, con opción estable/inestable. Java: 3 métodos de API, el algoritmo se elige según el tipo de dato. Ambos usan algoritmos adaptativos modernos.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57200" y="2880360"/>
            <a:ext cx="4023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94360" y="3017520"/>
            <a:ext cx="219456" cy="219456"/>
          </a:xfrm>
          <a:prstGeom prst="rect">
            <a:avLst/>
          </a:prstGeom>
          <a:solidFill>
            <a:srgbClr val="0073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914400" y="29718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3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3AA"/>
                </a:solidFill>
                <a:latin typeface="Calibri"/>
                <a:ea typeface="Calibri"/>
                <a:cs typeface="Calibri"/>
                <a:sym typeface="Calibri"/>
              </a:rPr>
              <a:t>Control vs Conveniencia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94360" y="3410712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Zig: control total, sin GC, sin overhead oculto, el programador elige stable/unstable. Java: GC, ecosistema maduro, la JVM elige el algoritmo por vos. Ninguno es mejor — depende del problema.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663440" y="2880360"/>
            <a:ext cx="4023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4800600" y="3017520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5120640" y="29718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Algoritmos adaptativos ganan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800600" y="3410712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Block Sort, PDQ Sort y TimSort detectan patrones en los datos y se adaptan. En datos del mundo real (parcialmente ordenados), esto marca la diferencia. El Quicksort clásico ya no es el estándar.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8138160" y="4873752"/>
            <a:ext cx="822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7200" y="1645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Preguntas para sus compañeros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57200" y="795528"/>
            <a:ext cx="457200" cy="914400"/>
          </a:xfrm>
          <a:prstGeom prst="rect">
            <a:avLst/>
          </a:prstGeom>
          <a:solidFill>
            <a:srgbClr val="F7A4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57200" y="795528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005840" y="795528"/>
            <a:ext cx="76809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1143000" y="868680"/>
            <a:ext cx="7406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¿Por qué Java usa algoritmos distintos para primitivos y objetos?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143000" y="1344168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Pista: ¿puede distinguirse un int de otro int "igual"? ¿Y un objeto?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57200" y="1819656"/>
            <a:ext cx="457200" cy="914400"/>
          </a:xfrm>
          <a:prstGeom prst="rect">
            <a:avLst/>
          </a:prstGeom>
          <a:solidFill>
            <a:srgbClr val="4AA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57200" y="1819656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05840" y="1819656"/>
            <a:ext cx="76809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1143000" y="1892808"/>
            <a:ext cx="7406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¿Qué diferencia hay entre std.mem.sort y std.mem.sortUnstable en Zig?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143000" y="2368296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Pista: uno llama Block Sort (estable, O(1) mem), el otro PDQ Sort (inestable, más rápido).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57200" y="2843784"/>
            <a:ext cx="4572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57200" y="2843784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005840" y="2843784"/>
            <a:ext cx="76809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1143000" y="2916936"/>
            <a:ext cx="7406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¿Cuándo TimSort logra O(n)? ¿En qué datos del mundo real ocurre?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1143000" y="3392424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Pista: pensá en logs con timestamps, listas casi ordenadas, precios históricos.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57200" y="3867912"/>
            <a:ext cx="4572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457200" y="3867912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1005840" y="3867912"/>
            <a:ext cx="76809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1143000" y="3941064"/>
            <a:ext cx="7406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¿Qué relación hay entre Collections.sort(), List.sort() y Arrays.sort()?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143000" y="4416552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Pista: ¿cuál llama a cuál internamente? ¿Qué cambió en Java 8?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2026-07-31T21:12:54Z</dcterms:created>
  <dc:creator>PptxGenJS</dc:creator>
</cp:coreProperties>
</file>